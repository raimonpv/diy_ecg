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F3CFEE"/>
    <a:srgbClr val="F28799"/>
    <a:srgbClr val="D8383C"/>
    <a:srgbClr val="FCF1D4"/>
    <a:srgbClr val="EC708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/>
    <p:restoredTop sz="94658"/>
  </p:normalViewPr>
  <p:slideViewPr>
    <p:cSldViewPr snapToGrid="0">
      <p:cViewPr varScale="1">
        <p:scale>
          <a:sx n="120" d="100"/>
          <a:sy n="120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E5A3C-5F6D-824F-9FBD-482A3660175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43935-549C-6140-985B-38C3851F6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4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43935-549C-6140-985B-38C3851F68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7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3A34-B118-FAD5-1A6C-6781B25C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16436-4BCC-0A08-5720-C73398041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6E27B-143D-466C-2CBA-1EE8D2EC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4E7F1-B591-F63B-5495-C99C0983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070B7-E934-B465-515C-12192EB9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4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0089-AF10-E1DB-0763-C5D58414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2F80-FD62-E18C-0F00-16808D6F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6AB8A-4411-D3F8-3F91-D5B4C7E5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1268D-E5F8-F7EF-FF89-AC4B6E64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5E67-9B43-94B8-770F-BAD3C18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5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6177-3C3E-4DD9-31F2-BB081665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2B35D-6C41-7351-ED1A-EAB3DA872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96DC-CE5E-5F5F-B8F9-6FEFB5B8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F9340-B62B-52BA-AA86-E8199D6B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FCA1-5C36-675D-A8E8-8547C9D5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8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ECDD-78EA-485B-488B-B2DC12FA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7A79-169E-6AFA-A3D6-3CAA4F9CA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03A1-86FA-C29A-9790-8844CD2C1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92103-FFC7-60BF-4F7D-9D063585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E64AD-F719-EEF0-D243-3501EA32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7B6DA-93FD-097E-356A-DC73D346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A106-00D8-7F50-8C90-0D8E8A25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008A7-7CD5-D134-5C0A-B79EE0CC3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D0F8F-3A52-B891-0C38-A29185D15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1FDC4-CC21-2FC4-9933-6C08757E8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C993C-D74B-B38B-AFAB-1BA55D9D1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72E9A-B394-6AA4-1F88-9F80FFB0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F2DB7-111D-2D43-F292-A0D61155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41655-40B0-28CF-DB7E-04500F5E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5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C38C-99A9-00E9-F8F1-1E148086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A882A-FD9C-AFCD-5B4E-95493C7C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7E1C6-AFE5-9557-B2BA-62E1B2FB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DACC6-64E5-5E19-952E-5D596696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5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EC02E-2884-3B23-FD52-678F2F65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66085-5CEB-A58E-61B6-10A02898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250C8-053E-FC72-12CD-B81CC7C1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8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A3EE-2BCA-458F-2EAD-65F444D6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479B1-614D-46D9-AD69-872DB9521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9FD01-10FD-E372-E51B-AD5EEA11B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0D82E-2994-F5E6-A188-69BF3B2E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360F-312C-9B98-09B5-ED9BFFDA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9B8E7-F9B1-8B5A-B904-C6000713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5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25FF0-F8DE-BEC9-BF47-81164146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19862-ACD2-0D98-36C3-A96C8BA81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23B8A-0B8B-0BCF-0D9D-8586097CE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A42C1-00D9-ABDA-2A1A-830E31E8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D7198-5792-525A-D1FE-C16B849D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67748-FD6C-5535-47C2-5B44EFD3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4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B7F6-5DDC-F2B3-BB34-01F335E6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74325-6969-1B41-CBBC-3D6641F99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30B34-55AA-2F8A-867C-EE4A05F0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35B0-1F1B-48C8-5525-F64F59E2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474B7-8AF7-4B76-07E2-67219B53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9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2396F-4A42-9D6B-4552-6EF7EF912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074B1-C643-E557-0137-637CA1EC0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EC7E3-AE25-F428-6480-80CD8712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BE2CD-B11B-20F1-90FE-BA8DD8E9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E0AD8-2406-922E-CB71-3F1E1524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2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FEB63-501F-3A68-1536-3BFB1D19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78E24-8723-B578-5CDF-080B41055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7B91A-14F4-A8C4-AEC8-73574F445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621ED-DB56-B746-B78F-C8941F1C316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16AAD-2919-62DA-C9B7-021CAB39C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32582-CE8D-7F31-E452-5EAE4ECC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5BD96-186F-7B41-9344-FED3EF449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microsoft.com/office/2007/relationships/hdphoto" Target="../media/hdphoto6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1.wdp"/><Relationship Id="rId15" Type="http://schemas.openxmlformats.org/officeDocument/2006/relationships/image" Target="../media/image6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microsoft.com/office/2007/relationships/hdphoto" Target="../media/hdphoto7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1FC4E-744A-5010-F5D2-436AAEA73AB7}"/>
              </a:ext>
            </a:extLst>
          </p:cNvPr>
          <p:cNvSpPr/>
          <p:nvPr/>
        </p:nvSpPr>
        <p:spPr>
          <a:xfrm>
            <a:off x="9429620" y="954204"/>
            <a:ext cx="2373306" cy="1609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accent3"/>
                </a:solidFill>
                <a:latin typeface="Chalkboard" panose="03050602040202020205" pitchFamily="66" charset="77"/>
              </a:rPr>
              <a:t>The ECG: Your Heart’s Electrical Map!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Your heart has a tiny electrical system that tells each room when to squeeze. An ECG is a machine that reads those signals.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2C50C-3C9C-0824-1BF8-C78CFCF42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995" y="1859933"/>
            <a:ext cx="3856140" cy="386348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EEA317A-F290-C7CB-C586-41EA1973D10E}"/>
              </a:ext>
            </a:extLst>
          </p:cNvPr>
          <p:cNvGrpSpPr/>
          <p:nvPr/>
        </p:nvGrpSpPr>
        <p:grpSpPr>
          <a:xfrm>
            <a:off x="6736777" y="3950194"/>
            <a:ext cx="2138404" cy="844890"/>
            <a:chOff x="6639698" y="2926985"/>
            <a:chExt cx="2138404" cy="84489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9874FAE-8E66-0E2D-B772-A55CFACFDB42}"/>
                </a:ext>
              </a:extLst>
            </p:cNvPr>
            <p:cNvSpPr/>
            <p:nvPr/>
          </p:nvSpPr>
          <p:spPr>
            <a:xfrm>
              <a:off x="6639698" y="2940878"/>
              <a:ext cx="2138404" cy="830997"/>
            </a:xfrm>
            <a:prstGeom prst="roundRect">
              <a:avLst/>
            </a:prstGeom>
            <a:solidFill>
              <a:srgbClr val="FCF1D4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r">
                <a:spcAft>
                  <a:spcPts val="600"/>
                </a:spcAft>
              </a:pPr>
              <a:endParaRPr lang="en-US" sz="1100" dirty="0">
                <a:solidFill>
                  <a:schemeClr val="tx1"/>
                </a:solidFill>
                <a:latin typeface="Chalkboard" panose="03050602040202020205" pitchFamily="66" charset="77"/>
              </a:endParaRPr>
            </a:p>
          </p:txBody>
        </p:sp>
        <p:pic>
          <p:nvPicPr>
            <p:cNvPr id="27" name="Picture 26" descr=", generat per IA">
              <a:extLst>
                <a:ext uri="{FF2B5EF4-FFF2-40B4-BE49-F238E27FC236}">
                  <a16:creationId xmlns:a16="http://schemas.microsoft.com/office/drawing/2014/main" id="{6477B0EC-67ED-FA40-2D75-0413AE916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61" b="89941" l="9888" r="94403">
                          <a14:foregroundMark x1="91231" y1="31445" x2="94403" y2="298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11019" y="3026450"/>
              <a:ext cx="308218" cy="588835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2653E6-6167-36B8-1BDF-4E5FF4AE32B0}"/>
                </a:ext>
              </a:extLst>
            </p:cNvPr>
            <p:cNvSpPr txBox="1"/>
            <p:nvPr/>
          </p:nvSpPr>
          <p:spPr>
            <a:xfrm>
              <a:off x="7019237" y="2926985"/>
              <a:ext cx="16636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alkboard" panose="03050602040202020205" pitchFamily="66" charset="77"/>
                  <a:ea typeface="+mn-ea"/>
                  <a:cs typeface="+mn-cs"/>
                </a:rPr>
                <a:t>The valves are like doors that open one way, so blood keeps moving forward!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791B24-2A21-2A3E-CB0C-B083AA14D658}"/>
              </a:ext>
            </a:extLst>
          </p:cNvPr>
          <p:cNvGrpSpPr/>
          <p:nvPr/>
        </p:nvGrpSpPr>
        <p:grpSpPr>
          <a:xfrm>
            <a:off x="1095330" y="6232964"/>
            <a:ext cx="7566834" cy="426056"/>
            <a:chOff x="558088" y="6282035"/>
            <a:chExt cx="7566834" cy="42605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267C1AE-DFAB-91B8-49E4-63E46DED6F75}"/>
                </a:ext>
              </a:extLst>
            </p:cNvPr>
            <p:cNvSpPr/>
            <p:nvPr/>
          </p:nvSpPr>
          <p:spPr>
            <a:xfrm>
              <a:off x="566326" y="6282035"/>
              <a:ext cx="7537805" cy="400493"/>
            </a:xfrm>
            <a:prstGeom prst="roundRect">
              <a:avLst>
                <a:gd name="adj" fmla="val 50000"/>
              </a:avLst>
            </a:prstGeom>
            <a:solidFill>
              <a:srgbClr val="F28799">
                <a:alpha val="75294"/>
              </a:srgbClr>
            </a:solidFill>
            <a:ln w="38100">
              <a:solidFill>
                <a:srgbClr val="D8383C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halkboard" panose="03050602040202020205" pitchFamily="66" charset="77"/>
                </a:rPr>
                <a:t>The heart works non-stop, beats about 60-100 times every minute. Even when you are resting!</a:t>
              </a:r>
            </a:p>
          </p:txBody>
        </p:sp>
        <p:pic>
          <p:nvPicPr>
            <p:cNvPr id="28" name="Picture 27" descr="AI generated image">
              <a:extLst>
                <a:ext uri="{FF2B5EF4-FFF2-40B4-BE49-F238E27FC236}">
                  <a16:creationId xmlns:a16="http://schemas.microsoft.com/office/drawing/2014/main" id="{518513FC-B1E3-5D4C-F43C-6DCB7258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3" b="90000" l="9982" r="89927">
                          <a14:foregroundMark x1="27405" y1="9583" x2="27405" y2="95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639379" y="6282035"/>
              <a:ext cx="485543" cy="422977"/>
            </a:xfrm>
            <a:prstGeom prst="rect">
              <a:avLst/>
            </a:prstGeom>
          </p:spPr>
        </p:pic>
        <p:pic>
          <p:nvPicPr>
            <p:cNvPr id="31" name="Picture 30" descr="AI generated image">
              <a:extLst>
                <a:ext uri="{FF2B5EF4-FFF2-40B4-BE49-F238E27FC236}">
                  <a16:creationId xmlns:a16="http://schemas.microsoft.com/office/drawing/2014/main" id="{23F723CE-1ADD-5587-8A4E-E9A5FDABC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583" b="90000" l="9982" r="89927">
                          <a14:foregroundMark x1="27405" y1="9583" x2="27405" y2="95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58088" y="6285114"/>
              <a:ext cx="485543" cy="422977"/>
            </a:xfrm>
            <a:prstGeom prst="rect">
              <a:avLst/>
            </a:prstGeom>
          </p:spPr>
        </p:pic>
      </p:grp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6006BE4-7398-5101-140A-07B17395AF51}"/>
              </a:ext>
            </a:extLst>
          </p:cNvPr>
          <p:cNvSpPr/>
          <p:nvPr/>
        </p:nvSpPr>
        <p:spPr>
          <a:xfrm>
            <a:off x="557081" y="4551798"/>
            <a:ext cx="2457755" cy="8865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The top 2 rooms are the </a:t>
            </a:r>
            <a:r>
              <a:rPr lang="en-US" sz="1200" b="1" dirty="0">
                <a:solidFill>
                  <a:schemeClr val="tx1"/>
                </a:solidFill>
                <a:latin typeface="Chalkboard" panose="03050602040202020205" pitchFamily="66" charset="77"/>
              </a:rPr>
              <a:t>ATRIA</a:t>
            </a:r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. Blood comes in and waits before going to the next room (like waiting rooms).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AD399A6-EDF6-47CB-7348-1F7FE2E594EB}"/>
              </a:ext>
            </a:extLst>
          </p:cNvPr>
          <p:cNvSpPr/>
          <p:nvPr/>
        </p:nvSpPr>
        <p:spPr>
          <a:xfrm>
            <a:off x="5380661" y="5189103"/>
            <a:ext cx="2457755" cy="8865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The bottom 2 rooms are the </a:t>
            </a:r>
            <a:r>
              <a:rPr lang="en-US" sz="1200" b="1" dirty="0">
                <a:solidFill>
                  <a:schemeClr val="tx1"/>
                </a:solidFill>
                <a:latin typeface="Chalkboard" panose="03050602040202020205" pitchFamily="66" charset="77"/>
              </a:rPr>
              <a:t>VENTRICLES</a:t>
            </a:r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. They push the blood out to the lungs or to the rest of the body.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2128737-A5EF-E17C-0123-611EA09F97DF}"/>
              </a:ext>
            </a:extLst>
          </p:cNvPr>
          <p:cNvSpPr/>
          <p:nvPr/>
        </p:nvSpPr>
        <p:spPr>
          <a:xfrm>
            <a:off x="901540" y="2579195"/>
            <a:ext cx="2124104" cy="860199"/>
          </a:xfrm>
          <a:prstGeom prst="roundRect">
            <a:avLst>
              <a:gd name="adj" fmla="val 23281"/>
            </a:avLst>
          </a:prstGeom>
          <a:solidFill>
            <a:schemeClr val="accent1">
              <a:lumMod val="20000"/>
              <a:lumOff val="80000"/>
              <a:alpha val="75294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The body’s cells use oxygen and send blood back </a:t>
            </a:r>
            <a:r>
              <a:rPr lang="en-US" sz="1200" dirty="0">
                <a:solidFill>
                  <a:srgbClr val="002060"/>
                </a:solidFill>
                <a:latin typeface="Chalkboard" panose="03050602040202020205" pitchFamily="66" charset="77"/>
              </a:rPr>
              <a:t>without oxygen </a:t>
            </a:r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to the heart.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FC79E15-6210-AD4B-B8A9-41D8E570A4ED}"/>
              </a:ext>
            </a:extLst>
          </p:cNvPr>
          <p:cNvSpPr/>
          <p:nvPr/>
        </p:nvSpPr>
        <p:spPr>
          <a:xfrm>
            <a:off x="4488877" y="1070247"/>
            <a:ext cx="2371995" cy="949243"/>
          </a:xfrm>
          <a:prstGeom prst="roundRect">
            <a:avLst>
              <a:gd name="adj" fmla="val 26946"/>
            </a:avLst>
          </a:prstGeom>
          <a:solidFill>
            <a:srgbClr val="F28799">
              <a:alpha val="75294"/>
            </a:srgbClr>
          </a:solidFill>
          <a:ln w="19050">
            <a:solidFill>
              <a:srgbClr val="D8383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The heart sends blood </a:t>
            </a:r>
            <a:r>
              <a:rPr lang="en-US" sz="1200" dirty="0">
                <a:solidFill>
                  <a:srgbClr val="D8383C"/>
                </a:solidFill>
                <a:latin typeface="Chalkboard" panose="03050602040202020205" pitchFamily="66" charset="77"/>
              </a:rPr>
              <a:t>with oxygen</a:t>
            </a:r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 and nutrients out through the aorta to every part of your body.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483DFB1-EFAA-1323-0FE8-E87501B3245E}"/>
              </a:ext>
            </a:extLst>
          </p:cNvPr>
          <p:cNvSpPr/>
          <p:nvPr/>
        </p:nvSpPr>
        <p:spPr>
          <a:xfrm>
            <a:off x="6462700" y="2450647"/>
            <a:ext cx="1923317" cy="886532"/>
          </a:xfrm>
          <a:prstGeom prst="roundRect">
            <a:avLst>
              <a:gd name="adj" fmla="val 25505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7000">
                <a:srgbClr val="F28799"/>
              </a:gs>
            </a:gsLst>
            <a:lin ang="5400000" scaled="1"/>
          </a:gradFill>
          <a:ln w="19050">
            <a:gradFill>
              <a:gsLst>
                <a:gs pos="0">
                  <a:srgbClr val="002060"/>
                </a:gs>
                <a:gs pos="100000">
                  <a:srgbClr val="D8383C"/>
                </a:gs>
              </a:gsLst>
              <a:lin ang="5400000" scaled="1"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halkboard" panose="03050602040202020205" pitchFamily="66" charset="77"/>
              </a:rPr>
              <a:t>At the Lungs, blood drops off carbon dioxide and picks up oxygen.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623CB0A-1504-EB11-DED1-85CE217A94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236" b="90188" l="3809" r="89844">
                        <a14:foregroundMark x1="11230" y1="60752" x2="6543" y2="66493"/>
                        <a14:foregroundMark x1="6543" y1="66493" x2="8008" y2="62109"/>
                        <a14:foregroundMark x1="4102" y1="71712" x2="3809" y2="67850"/>
                        <a14:foregroundMark x1="43457" y1="3967" x2="44629" y2="5846"/>
                        <a14:foregroundMark x1="44141" y1="4384" x2="44043" y2="3862"/>
                        <a14:foregroundMark x1="46191" y1="3236" x2="44141" y2="4384"/>
                        <a14:foregroundMark x1="44238" y1="3967" x2="43359" y2="4384"/>
                        <a14:foregroundMark x1="73633" y1="88727" x2="79688" y2="901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025" y="1295295"/>
            <a:ext cx="1248994" cy="11684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9652314-8E36-14FB-7970-C1FD6DAE1B0D}"/>
              </a:ext>
            </a:extLst>
          </p:cNvPr>
          <p:cNvGrpSpPr/>
          <p:nvPr/>
        </p:nvGrpSpPr>
        <p:grpSpPr>
          <a:xfrm>
            <a:off x="1538706" y="148760"/>
            <a:ext cx="9114588" cy="614329"/>
            <a:chOff x="297660" y="148760"/>
            <a:chExt cx="9114588" cy="614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7E55AD-8867-972F-6AA4-F9FA4ADDD364}"/>
                </a:ext>
              </a:extLst>
            </p:cNvPr>
            <p:cNvSpPr txBox="1"/>
            <p:nvPr/>
          </p:nvSpPr>
          <p:spPr>
            <a:xfrm>
              <a:off x="1060747" y="148760"/>
              <a:ext cx="79258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Chalkboard" panose="03050602040202020205" pitchFamily="66" charset="77"/>
                </a:rPr>
                <a:t>Your Heart: 4 Rooms Working as a Team! </a:t>
              </a:r>
            </a:p>
          </p:txBody>
        </p:sp>
        <p:pic>
          <p:nvPicPr>
            <p:cNvPr id="44" name="Picture 43" descr="AI generated image">
              <a:extLst>
                <a:ext uri="{FF2B5EF4-FFF2-40B4-BE49-F238E27FC236}">
                  <a16:creationId xmlns:a16="http://schemas.microsoft.com/office/drawing/2014/main" id="{78DCFA94-CC1D-341C-E860-9B88248B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9583" b="90000" l="9982" r="89927">
                          <a14:foregroundMark x1="27405" y1="9583" x2="27405" y2="95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97660" y="175113"/>
              <a:ext cx="674948" cy="587976"/>
            </a:xfrm>
            <a:prstGeom prst="rect">
              <a:avLst/>
            </a:prstGeom>
          </p:spPr>
        </p:pic>
        <p:pic>
          <p:nvPicPr>
            <p:cNvPr id="45" name="Picture 44" descr="AI generated image">
              <a:extLst>
                <a:ext uri="{FF2B5EF4-FFF2-40B4-BE49-F238E27FC236}">
                  <a16:creationId xmlns:a16="http://schemas.microsoft.com/office/drawing/2014/main" id="{74953DD4-7498-D678-35F6-696D8F121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583" b="90000" l="9982" r="89927">
                          <a14:foregroundMark x1="27405" y1="9583" x2="27405" y2="95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37300" y="162587"/>
              <a:ext cx="674948" cy="58797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7FB32E6-74D1-8BD0-8C7E-ED30A41B76B0}"/>
              </a:ext>
            </a:extLst>
          </p:cNvPr>
          <p:cNvGrpSpPr/>
          <p:nvPr/>
        </p:nvGrpSpPr>
        <p:grpSpPr>
          <a:xfrm>
            <a:off x="785488" y="1219729"/>
            <a:ext cx="2951117" cy="918015"/>
            <a:chOff x="301512" y="1098256"/>
            <a:chExt cx="2951117" cy="918015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854B94A-E994-452E-E8C3-9D049CD137E9}"/>
                </a:ext>
              </a:extLst>
            </p:cNvPr>
            <p:cNvSpPr/>
            <p:nvPr/>
          </p:nvSpPr>
          <p:spPr>
            <a:xfrm>
              <a:off x="301512" y="1098256"/>
              <a:ext cx="2951117" cy="918015"/>
            </a:xfrm>
            <a:prstGeom prst="roundRect">
              <a:avLst/>
            </a:prstGeom>
            <a:solidFill>
              <a:srgbClr val="FCF1D4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endParaRPr lang="en-US" sz="1100" dirty="0">
                <a:solidFill>
                  <a:schemeClr val="tx1"/>
                </a:solidFill>
                <a:latin typeface="Chalkboard" panose="03050602040202020205" pitchFamily="66" charset="7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BB4A05-9E7C-A954-88C8-2AA9C9052B72}"/>
                </a:ext>
              </a:extLst>
            </p:cNvPr>
            <p:cNvSpPr txBox="1"/>
            <p:nvPr/>
          </p:nvSpPr>
          <p:spPr>
            <a:xfrm>
              <a:off x="322303" y="1108330"/>
              <a:ext cx="2451274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alkboard" panose="03050602040202020205" pitchFamily="66" charset="77"/>
                  <a:ea typeface="+mn-ea"/>
                  <a:cs typeface="+mn-cs"/>
                </a:rPr>
                <a:t>       Fun fact!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halkboard" panose="03050602040202020205" pitchFamily="66" charset="77"/>
                  <a:ea typeface="+mn-ea"/>
                  <a:cs typeface="+mn-cs"/>
                </a:rPr>
                <a:t>Your heart is about the size of your fist but is one of the strongest muscles in your body!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77"/>
                <a:ea typeface="+mn-ea"/>
                <a:cs typeface="+mn-cs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D435E5A-3855-57DE-439B-7089DF16D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961" b="93652" l="9921" r="89966">
                          <a14:foregroundMark x1="14769" y1="22656" x2="15671" y2="23242"/>
                          <a14:foregroundMark x1="31003" y1="13867" x2="31454" y2="14648"/>
                          <a14:foregroundMark x1="30327" y1="12695" x2="31003" y2="13867"/>
                          <a14:foregroundMark x1="50846" y1="16504" x2="50958" y2="14844"/>
                          <a14:foregroundMark x1="68771" y1="18164" x2="69786" y2="16797"/>
                          <a14:foregroundMark x1="82413" y1="31934" x2="85795" y2="31445"/>
                          <a14:foregroundMark x1="52649" y1="93652" x2="52649" y2="93652"/>
                          <a14:backgroundMark x1="12852" y1="51270" x2="12965" y2="50586"/>
                          <a14:backgroundMark x1="19278" y1="74121" x2="19053" y2="73730"/>
                          <a14:backgroundMark x1="17362" y1="69824" x2="17362" y2="69824"/>
                          <a14:backgroundMark x1="14882" y1="64063" x2="14882" y2="64063"/>
                          <a14:backgroundMark x1="21195" y1="76172" x2="21195" y2="76172"/>
                          <a14:backgroundMark x1="32131" y1="85059" x2="32131" y2="85059"/>
                          <a14:backgroundMark x1="29538" y1="83594" x2="29538" y2="83594"/>
                          <a14:backgroundMark x1="23112" y1="78320" x2="23112" y2="78320"/>
                          <a14:backgroundMark x1="69560" y1="79297" x2="69560" y2="79297"/>
                          <a14:backgroundMark x1="69560" y1="82520" x2="69560" y2="82520"/>
                          <a14:backgroundMark x1="77790" y1="66406" x2="77790" y2="66406"/>
                          <a14:backgroundMark x1="77452" y1="46875" x2="77452" y2="46875"/>
                          <a14:backgroundMark x1="78241" y1="50684" x2="78241" y2="50684"/>
                          <a14:backgroundMark x1="71026" y1="41602" x2="71026" y2="41602"/>
                          <a14:backgroundMark x1="69560" y1="36426" x2="69560" y2="36426"/>
                          <a14:backgroundMark x1="60428" y1="29102" x2="60428" y2="29102"/>
                          <a14:backgroundMark x1="53664" y1="30957" x2="53664" y2="30957"/>
                          <a14:backgroundMark x1="47802" y1="28809" x2="47802" y2="28809"/>
                          <a14:backgroundMark x1="35851" y1="34570" x2="35851" y2="34570"/>
                          <a14:backgroundMark x1="21646" y1="43262" x2="21646" y2="43262"/>
                          <a14:backgroundMark x1="38895" y1="96094" x2="38895" y2="96094"/>
                          <a14:backgroundMark x1="42503" y1="96289" x2="42503" y2="96289"/>
                          <a14:backgroundMark x1="46787" y1="96289" x2="46787" y2="96289"/>
                          <a14:backgroundMark x1="71139" y1="91797" x2="71139" y2="91797"/>
                          <a14:backgroundMark x1="69673" y1="82813" x2="69673" y2="82813"/>
                          <a14:backgroundMark x1="75874" y1="70898" x2="75874" y2="70898"/>
                          <a14:backgroundMark x1="74183" y1="72852" x2="74183" y2="72852"/>
                          <a14:backgroundMark x1="74070" y1="72754" x2="74070" y2="72754"/>
                          <a14:backgroundMark x1="42728" y1="29004" x2="42728" y2="29004"/>
                          <a14:backgroundMark x1="86697" y1="31934" x2="86697" y2="31934"/>
                          <a14:backgroundMark x1="88952" y1="30371" x2="88952" y2="30371"/>
                          <a14:backgroundMark x1="33822" y1="94531" x2="33822" y2="94531"/>
                          <a14:backgroundMark x1="33822" y1="94141" x2="33822" y2="94141"/>
                          <a14:backgroundMark x1="33709" y1="93848" x2="33596" y2="94238"/>
                          <a14:backgroundMark x1="33709" y1="92676" x2="33822" y2="94238"/>
                          <a14:backgroundMark x1="33596" y1="93652" x2="33935" y2="93359"/>
                          <a14:backgroundMark x1="29425" y1="13867" x2="29425" y2="13867"/>
                          <a14:backgroundMark x1="20631" y1="75488" x2="21421" y2="76660"/>
                          <a14:backgroundMark x1="21308" y1="75879" x2="21308" y2="75879"/>
                          <a14:backgroundMark x1="13416" y1="58496" x2="13416" y2="58496"/>
                          <a14:backgroundMark x1="12965" y1="54492" x2="12965" y2="54492"/>
                          <a14:backgroundMark x1="35851" y1="34375" x2="35851" y2="34375"/>
                          <a14:backgroundMark x1="35851" y1="34277" x2="35738" y2="34570"/>
                          <a14:backgroundMark x1="35964" y1="34180" x2="35964" y2="34180"/>
                          <a14:backgroundMark x1="35964" y1="34180" x2="35964" y2="34180"/>
                          <a14:backgroundMark x1="36077" y1="34277" x2="36077" y2="34277"/>
                          <a14:backgroundMark x1="21984" y1="43066" x2="22435" y2="43066"/>
                          <a14:backgroundMark x1="22097" y1="77441" x2="20293" y2="74414"/>
                          <a14:backgroundMark x1="21195" y1="75586" x2="21195" y2="75586"/>
                          <a14:backgroundMark x1="33596" y1="92578" x2="33596" y2="93066"/>
                          <a14:backgroundMark x1="72153" y1="15820" x2="72153" y2="15820"/>
                          <a14:backgroundMark x1="71928" y1="15820" x2="71928" y2="1582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29236" y="1227938"/>
              <a:ext cx="548829" cy="63359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356B09B-D361-DA07-FC82-E3E6CEE64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0645704">
              <a:off x="460741" y="1138173"/>
              <a:ext cx="301226" cy="301226"/>
            </a:xfrm>
            <a:prstGeom prst="rect">
              <a:avLst/>
            </a:prstGeom>
          </p:spPr>
        </p:pic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85DB8EF-DA02-70E3-4FD1-1DB5EBA626CE}"/>
              </a:ext>
            </a:extLst>
          </p:cNvPr>
          <p:cNvSpPr/>
          <p:nvPr/>
        </p:nvSpPr>
        <p:spPr>
          <a:xfrm>
            <a:off x="9140715" y="4222258"/>
            <a:ext cx="2951117" cy="2415315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0E9783A-9F72-A3B7-3844-42B112648197}"/>
              </a:ext>
            </a:extLst>
          </p:cNvPr>
          <p:cNvSpPr/>
          <p:nvPr/>
        </p:nvSpPr>
        <p:spPr>
          <a:xfrm>
            <a:off x="9295330" y="4359146"/>
            <a:ext cx="568609" cy="53437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7030A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7C0FF4-499B-225C-54E6-3904898987E8}"/>
              </a:ext>
            </a:extLst>
          </p:cNvPr>
          <p:cNvSpPr txBox="1"/>
          <p:nvPr/>
        </p:nvSpPr>
        <p:spPr>
          <a:xfrm>
            <a:off x="9859349" y="4290239"/>
            <a:ext cx="2333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Chalkboard" panose="03050602040202020205" pitchFamily="66" charset="77"/>
              </a:rPr>
              <a:t>Small bump (P wave)</a:t>
            </a:r>
          </a:p>
          <a:p>
            <a:r>
              <a:rPr lang="en-US" sz="1200" dirty="0">
                <a:latin typeface="Chalkboard" panose="03050602040202020205" pitchFamily="66" charset="77"/>
              </a:rPr>
              <a:t>The atria squeeze to send blood to the ventricles.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E048513-E171-8556-5DF2-DFE762A94F90}"/>
              </a:ext>
            </a:extLst>
          </p:cNvPr>
          <p:cNvSpPr/>
          <p:nvPr/>
        </p:nvSpPr>
        <p:spPr>
          <a:xfrm>
            <a:off x="9295329" y="5116569"/>
            <a:ext cx="568609" cy="534379"/>
          </a:xfrm>
          <a:prstGeom prst="ellipse">
            <a:avLst/>
          </a:prstGeom>
          <a:solidFill>
            <a:srgbClr val="F28799"/>
          </a:solidFill>
          <a:ln w="38100">
            <a:solidFill>
              <a:srgbClr val="D8383C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D8383C"/>
                </a:solidFill>
              </a:rPr>
              <a:t>QRS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354D44C-C40F-D742-F4A2-1800B8750CF9}"/>
              </a:ext>
            </a:extLst>
          </p:cNvPr>
          <p:cNvSpPr/>
          <p:nvPr/>
        </p:nvSpPr>
        <p:spPr>
          <a:xfrm>
            <a:off x="9295329" y="5954950"/>
            <a:ext cx="568609" cy="53437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4E7B09-21EF-107F-EAB6-6F4C875C4600}"/>
              </a:ext>
            </a:extLst>
          </p:cNvPr>
          <p:cNvSpPr txBox="1"/>
          <p:nvPr/>
        </p:nvSpPr>
        <p:spPr>
          <a:xfrm>
            <a:off x="9859349" y="5004643"/>
            <a:ext cx="2236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D8383C"/>
                </a:solidFill>
                <a:latin typeface="Chalkboard" panose="03050602040202020205" pitchFamily="66" charset="77"/>
              </a:rPr>
              <a:t>Big spike (QRS complex)</a:t>
            </a:r>
          </a:p>
          <a:p>
            <a:r>
              <a:rPr lang="en-US" sz="1200" dirty="0">
                <a:latin typeface="Chalkboard" panose="03050602040202020205" pitchFamily="66" charset="77"/>
              </a:rPr>
              <a:t>The ventricles squeeze hard to send blood to the body and lungs.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F5ECBA-0E1D-3970-B8FD-04DC736C7F79}"/>
              </a:ext>
            </a:extLst>
          </p:cNvPr>
          <p:cNvSpPr txBox="1"/>
          <p:nvPr/>
        </p:nvSpPr>
        <p:spPr>
          <a:xfrm>
            <a:off x="9859349" y="5903712"/>
            <a:ext cx="2017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Chalkboard" panose="03050602040202020205" pitchFamily="66" charset="77"/>
              </a:rPr>
              <a:t>Big bump (T wave)</a:t>
            </a:r>
          </a:p>
          <a:p>
            <a:r>
              <a:rPr lang="en-US" sz="1200" dirty="0">
                <a:latin typeface="Chalkboard" panose="03050602040202020205" pitchFamily="66" charset="77"/>
              </a:rPr>
              <a:t>The heart relaxes and reset to get ready again!</a:t>
            </a:r>
          </a:p>
        </p:txBody>
      </p:sp>
      <p:pic>
        <p:nvPicPr>
          <p:cNvPr id="55" name="Picture 54" descr="The Normal ECG Trace | ECG Basics - MedSchool">
            <a:extLst>
              <a:ext uri="{FF2B5EF4-FFF2-40B4-BE49-F238E27FC236}">
                <a16:creationId xmlns:a16="http://schemas.microsoft.com/office/drawing/2014/main" id="{51948AB1-7E4D-D81E-98A5-89A2461A60E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804" b="44732"/>
          <a:stretch>
            <a:fillRect/>
          </a:stretch>
        </p:blipFill>
        <p:spPr>
          <a:xfrm>
            <a:off x="9269906" y="2665143"/>
            <a:ext cx="2684817" cy="143544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5D6CF75-4E02-0635-941F-4F809092C941}"/>
              </a:ext>
            </a:extLst>
          </p:cNvPr>
          <p:cNvSpPr/>
          <p:nvPr/>
        </p:nvSpPr>
        <p:spPr>
          <a:xfrm>
            <a:off x="10313629" y="2682172"/>
            <a:ext cx="378580" cy="1408540"/>
          </a:xfrm>
          <a:prstGeom prst="rect">
            <a:avLst/>
          </a:prstGeom>
          <a:solidFill>
            <a:srgbClr val="F2879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9516A33-34F0-D281-F236-F83524B7E44D}"/>
              </a:ext>
            </a:extLst>
          </p:cNvPr>
          <p:cNvSpPr/>
          <p:nvPr/>
        </p:nvSpPr>
        <p:spPr>
          <a:xfrm>
            <a:off x="10845652" y="3307349"/>
            <a:ext cx="546384" cy="498893"/>
          </a:xfrm>
          <a:prstGeom prst="rect">
            <a:avLst/>
          </a:prstGeom>
          <a:solidFill>
            <a:srgbClr val="D9F2D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755EE-9058-7ADB-6C8A-1E556BDF56DE}"/>
              </a:ext>
            </a:extLst>
          </p:cNvPr>
          <p:cNvSpPr/>
          <p:nvPr/>
        </p:nvSpPr>
        <p:spPr>
          <a:xfrm>
            <a:off x="10025388" y="3340982"/>
            <a:ext cx="271937" cy="472186"/>
          </a:xfrm>
          <a:prstGeom prst="rect">
            <a:avLst/>
          </a:prstGeom>
          <a:solidFill>
            <a:srgbClr val="F3CFE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7E1220-1D74-18FD-69BE-E790AEA6F3BA}"/>
              </a:ext>
            </a:extLst>
          </p:cNvPr>
          <p:cNvSpPr txBox="1"/>
          <p:nvPr/>
        </p:nvSpPr>
        <p:spPr>
          <a:xfrm>
            <a:off x="10868103" y="2680748"/>
            <a:ext cx="135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halkboard" panose="03050602040202020205" pitchFamily="66" charset="77"/>
              </a:rPr>
              <a:t>This is how one beat looks!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38EB69-0012-F5FD-DB5E-2CDEB3AE6740}"/>
              </a:ext>
            </a:extLst>
          </p:cNvPr>
          <p:cNvSpPr txBox="1"/>
          <p:nvPr/>
        </p:nvSpPr>
        <p:spPr>
          <a:xfrm>
            <a:off x="3736605" y="5245503"/>
            <a:ext cx="59862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INFERIOR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VENA CAVA</a:t>
            </a:r>
          </a:p>
        </p:txBody>
      </p:sp>
    </p:spTree>
    <p:extLst>
      <p:ext uri="{BB962C8B-B14F-4D97-AF65-F5344CB8AC3E}">
        <p14:creationId xmlns:p14="http://schemas.microsoft.com/office/powerpoint/2010/main" val="237633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262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Chalkboard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Padros I Valls, Raimon</dc:creator>
  <cp:lastModifiedBy>Padros I Valls, Raimon</cp:lastModifiedBy>
  <cp:revision>10</cp:revision>
  <dcterms:created xsi:type="dcterms:W3CDTF">2026-05-11T21:26:04Z</dcterms:created>
  <dcterms:modified xsi:type="dcterms:W3CDTF">2026-05-25T16:45:45Z</dcterms:modified>
</cp:coreProperties>
</file>